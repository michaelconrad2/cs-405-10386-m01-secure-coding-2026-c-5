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7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Welcome to the Green Pace secure development policy presentation. This briefing builds on the Project One policy and explains how the development team can apply its ten standards consistently. I will discuss threat prioritization, layered controls, automated checks, and a focused unit-testing example. Replace the name field before submitting.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Green Pace needs a repeatable policy as its development team grows. The Project One document establishes a common approach for secure C and C++ coding and operational security. Defense in depth means that no single safeguard is assumed to be perfect. For example, input validation prevents many malformed values from entering a program; safe memory and arithmetic practices reduce the damage from missed inputs; authentication and authorization limit exposure; and logging provides visibility into suspicious events. These layers should be implemented in the development lifecycle, not only after deployment.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matrix retains the qualitative likelihood and priority judgments in Project One rather than presenting them as measured probabilities. Six standards are rated likely and high priority: value validation, string boundaries, parameterized SQL, memory protection, integer overflow, and file path validation. Exception handling is possible and high priority, while safe data types are unlikely but still high priority because the potential severity is high. Assertions and resource release are possible and medium priority. Four standards have the highest documented level of five. Static analysis and tests can detect symptoms, but risk rankings require periodic review as architecture and exposure change.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policy lists ten core principles: validate input, heed compiler warnings, architect for security, keep designs simple, default deny, apply least privilege, sanitize data crossing boundaries, use defense in depth, practice effective quality assurance, and adopt a secure coding standard. The numbers shown on the slide map each principle to relevant coding standards. These mappings are implementation recommendations based on the original policy examples, not a claim that each principle applies exclusively to the listed standards. Effective quality assurance and adherence to a coding standard apply to all ten.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proposed remediation order starts with the four standards rated level five in Project One: parameterized SQL, RAII memory management, integer overflow protection, and safe file paths. Next are input-value validation and string bounds, both likely, high-priority risks rated level four, followed by exception handling. Safe data types, assertions, and automatic resource release complete the sequence. The ordering uses the policy level as the primary factor, then likelihood and potential exploit impact, with remediation cost used for scheduling. It is a proposed implementation order, not a replacement for a system-specific threat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encryption strategy addresses three states of data. In transit, approved TLS protects communications, with certificate verification and modern cipher configuration. At rest, approved encryption protects databases, backups, and files; key management is separate from application source code. Data in use generally must be decrypted for processing, so we minimize the duration and location of plaintext, restrict process privileges, and clear sensitive buffers where appropriate. Specialized confidential-computing approaches can provide further protections when justified. Encryption is not a substitute for input validation or authorization, and implementation should use maintained cryptographic libraries rather than custom algorithms.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Triple A stands for authentication, authorization, and accounting. Authentication verifies identity; authorization decides which operations that identity may perform; accounting records relevant activity for audit and investigation. Green Pace should require stronger authentication for administrators, verify authorization server-side for every sensitive action, and default to denying ambiguous requests. Logs should record who performed an action, when it occurred, and the outcome, while avoiding sensitive credentials. Audit access itself must be restricted and logs should be retained according to documented policy.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test uses the Visual Studio Microsoft C++ Unit Test Framework to verify the STD-002-CPP input validation policy. The test ValidQuantityAccepted calls IsValidQuantity(50) and expects true. The uploaded Visual Studio screenshot documents a passed result. All five tests passed in the same run, with no failed or skipped tests. This is evidence for the example validation function, not a production application security assessment.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test uses the Visual Studio Microsoft C++ Unit Test Framework to verify the STD-002-CPP input validation policy. The test MaximumQuantityAccepted calls IsValidQuantity(100) and expects true. The uploaded Visual Studio screenshot documents a passed result. All five tests passed in the same run, with no failed or skipped tests. This is evidence for the example validation function, not a production application security assessment.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test uses the Visual Studio Microsoft C++ Unit Test Framework to verify the STD-002-CPP input validation policy. The test ZeroQuantityRejected calls IsValidQuantity(0) and expects false. The uploaded Visual Studio screenshot documents a passed result. All five tests passed in the same run, with no failed or skipped tests. This is evidence for the example validation function, not a production application security assessment.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test uses the Visual Studio Microsoft C++ Unit Test Framework to verify the STD-002-CPP input validation policy. The test NegativeQuantityRejected calls IsValidQuantity(-5) and expects false. The uploaded Visual Studio screenshot documents a passed result. All five tests passed in the same run, with no failed or skipped tests. This is evidence for the example validation function, not a production application security assessment.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test uses the Visual Studio Microsoft C++ Unit Test Framework to verify the STD-002-CPP input validation policy. The test ExcessiveQuantityRejected calls IsValidQuantity(101) and expects false. The uploaded Visual Studio screenshot documents a passed result. All five tests passed in the same run, with no failed or skipped tests. This is evidence for the example validation function, not a production application security assessment.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DevSecOps pipeline integrates security into the entire software lifecycle. During planning, teams document assets and trust boundaries. During coding, review and linting identify unsafe patterns. At build time, the C++ compiler runs and warnings should be treated as errors where practical. Clang-tidy and Cppcheck supplement the compiler; dependency and secrets scanners flag additional risks. During testing, the Visual Studio unit test framework checks expected behavior and sanitizer or fuzz testing can reveal memory problems. Release gates block builds that fail mandatory checks. Production monitoring then informs future fixes and policy updates.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tools provide different types of evidence. The compiler runs during every build and can catch unsafe conversions and other suspicious constructs. Clang-tidy and Cppcheck inspect source code without requiring a production run, although they do not prove a program is safe. Visual Studio Test Explorer executes the unit tests and provides pass or fail results. AddressSanitizer instruments supported builds to reveal memory violations, while fuzzing exercises unusual inputs. Dynamic application testing can assess deployed interfaces. Each tool should be placed at a defined pipeline stage, with documented owners and follow-up actions. A green scan is not proof that no vulnerability exists.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Acting now on high-risk weaknesses can reduce the chance of data loss, system compromise, and operational disruption. SQL injection and unauthorized file access may expose sensitive information. Integer overflow and unsafe memory handling can produce crashes or exploitable behavior. Waiting allows these conditions to persist and can increase remediation complexity as more code depends on vulnerable behavior. Immediate changes also carry costs: engineering time, compatibility concerns, and false positives. Green Pace should use small reviewed changes, test coverage, staged deployment, and rollback plans to reduce those implementation risks.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current policy establishes important standards, but the next step is to operationalize them. Each standard should have a documented automated or manual verification method and a responsible owner. Green Pace should require consistent checks in continuous integration and specify when a failed check blocks release. Expand testing beyond the quantity example to string lengths, integer overflow, file traversal, and SQL query construction. Maintain a current dependency inventory and review authentication, key management, and logging configurations. Policy exceptions should be time-limited, approved, and reassessed. Metrics such as unresolved high-severity findings and remediation time will reveal whether the program is improving.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conclusion, Green Pace can turn its written policy into a sustainable security program by combining clear standards with continuous verification. The SEI CERT C++ guidance supports language-specific practices, while the NIST Secure Software Development Framework provides a lifecycle structure. OWASP application verification requirements can help assess application-facing controls. The highest-risk findings should be remediated first, and new functionality should receive threat modeling and automated testing before release. Security policy should be reviewed regularly as threats, dependencies, and systems change. The goal is repeatable evidence that safeguards are working, not simply a checklist.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presentation draws on the completed Green Pace Project One policy and supporting guidance from the SEI CERT C++ coding standard, NIST SSDF, OWASP ASVS, and Microsoft documentation on C++ unit testing. These resources provide further detail on secure coding, lifecycle practices, application verification, and the Visual Studio testing workflow.</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Green Pace | Security Policy Presentation</a:t>
            </a:r>
          </a:p>
        </p:txBody>
      </p:sp>
      <p:sp>
        <p:nvSpPr>
          <p:cNvPr id="4" name="TextBox 3"/>
          <p:cNvSpPr txBox="1"/>
          <p:nvPr/>
        </p:nvSpPr>
        <p:spPr>
          <a:xfrm>
            <a:off x="685800" y="1234440"/>
            <a:ext cx="10820400" cy="1318310"/>
          </a:xfrm>
          <a:prstGeom prst="rect">
            <a:avLst/>
          </a:prstGeom>
          <a:noFill/>
        </p:spPr>
        <p:txBody>
          <a:bodyPr wrap="square">
            <a:spAutoFit/>
          </a:bodyPr>
          <a:lstStyle/>
          <a:p>
            <a:pPr>
              <a:spcAft>
                <a:spcPts val="1000"/>
              </a:spcAft>
              <a:defRPr sz="2100">
                <a:solidFill>
                  <a:srgbClr val="F5F5F5"/>
                </a:solidFill>
              </a:defRPr>
            </a:pPr>
            <a:r>
              <a:rPr dirty="0"/>
              <a:t>CS 405 Project Two</a:t>
            </a:r>
          </a:p>
          <a:p>
            <a:pPr>
              <a:spcAft>
                <a:spcPts val="1000"/>
              </a:spcAft>
              <a:defRPr sz="2100">
                <a:solidFill>
                  <a:srgbClr val="F5F5F5"/>
                </a:solidFill>
              </a:defRPr>
            </a:pPr>
            <a:r>
              <a:rPr dirty="0"/>
              <a:t>Developer: </a:t>
            </a:r>
            <a:r>
              <a:rPr lang="en-US" dirty="0"/>
              <a:t>Michael Conrad</a:t>
            </a:r>
            <a:endParaRPr dirty="0"/>
          </a:p>
          <a:p>
            <a:pPr>
              <a:spcAft>
                <a:spcPts val="1000"/>
              </a:spcAft>
              <a:defRPr sz="2100">
                <a:solidFill>
                  <a:srgbClr val="F5F5F5"/>
                </a:solidFill>
              </a:defRPr>
            </a:pPr>
            <a:r>
              <a:rPr dirty="0"/>
              <a:t>October 17, 2026</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 / 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Overview | Defense in Depth</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2100">
                <a:solidFill>
                  <a:srgbClr val="F5F5F5"/>
                </a:solidFill>
              </a:defRPr>
            </a:pPr>
            <a:r>
              <a:t>•  Purpose: standardize secure C++ development across Green Pace</a:t>
            </a:r>
          </a:p>
          <a:p>
            <a:pPr>
              <a:spcAft>
                <a:spcPts val="1000"/>
              </a:spcAft>
              <a:defRPr sz="2100">
                <a:solidFill>
                  <a:srgbClr val="F5F5F5"/>
                </a:solidFill>
              </a:defRPr>
            </a:pPr>
            <a:r>
              <a:t>•  Scope: staff who create, deploy, or support custom software</a:t>
            </a:r>
          </a:p>
          <a:p>
            <a:pPr>
              <a:spcAft>
                <a:spcPts val="1000"/>
              </a:spcAft>
              <a:defRPr sz="2100">
                <a:solidFill>
                  <a:srgbClr val="F5F5F5"/>
                </a:solidFill>
              </a:defRPr>
            </a:pPr>
            <a:r>
              <a:t>•  Layers: input validation → secure code → access control → encryption → monitoring</a:t>
            </a:r>
          </a:p>
          <a:p>
            <a:pPr>
              <a:spcAft>
                <a:spcPts val="1000"/>
              </a:spcAft>
              <a:defRPr sz="2100">
                <a:solidFill>
                  <a:srgbClr val="F5F5F5"/>
                </a:solidFill>
              </a:defRPr>
            </a:pPr>
            <a:r>
              <a:t>•  Verify controls with code review, static analysis, unit tests, and release gates</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2 / 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Threat Matrix | Project One Ratings</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2100">
                <a:solidFill>
                  <a:srgbClr val="F5F5F5"/>
                </a:solidFill>
              </a:defRPr>
            </a:pPr>
            <a:r>
              <a:t>•  LIKELY + HIGH PRIORITY: STD-002, 003, 004, 005, 008, 009</a:t>
            </a:r>
          </a:p>
          <a:p>
            <a:pPr>
              <a:spcAft>
                <a:spcPts val="1000"/>
              </a:spcAft>
              <a:defRPr sz="2100">
                <a:solidFill>
                  <a:srgbClr val="F5F5F5"/>
                </a:solidFill>
              </a:defRPr>
            </a:pPr>
            <a:r>
              <a:t>•  POSSIBLE + HIGH PRIORITY: STD-007</a:t>
            </a:r>
          </a:p>
          <a:p>
            <a:pPr>
              <a:spcAft>
                <a:spcPts val="1000"/>
              </a:spcAft>
              <a:defRPr sz="2100">
                <a:solidFill>
                  <a:srgbClr val="F5F5F5"/>
                </a:solidFill>
              </a:defRPr>
            </a:pPr>
            <a:r>
              <a:t>•  UNLIKELY + HIGH PRIORITY: STD-001</a:t>
            </a:r>
          </a:p>
          <a:p>
            <a:pPr>
              <a:spcAft>
                <a:spcPts val="1000"/>
              </a:spcAft>
              <a:defRPr sz="2100">
                <a:solidFill>
                  <a:srgbClr val="F5F5F5"/>
                </a:solidFill>
              </a:defRPr>
            </a:pPr>
            <a:r>
              <a:t>•  POSSIBLE + MEDIUM PRIORITY: STD-006, 010</a:t>
            </a:r>
          </a:p>
          <a:p>
            <a:pPr>
              <a:spcAft>
                <a:spcPts val="1000"/>
              </a:spcAft>
              <a:defRPr sz="2100">
                <a:solidFill>
                  <a:srgbClr val="F5F5F5"/>
                </a:solidFill>
              </a:defRPr>
            </a:pPr>
            <a:r>
              <a:t>•  Highest documented level (5): STD-004, 005, 008, 009</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3 /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Ten Security Principles | Standards Mapping</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500"/>
              </a:spcAft>
              <a:defRPr sz="1700">
                <a:solidFill>
                  <a:srgbClr val="F5F5F5"/>
                </a:solidFill>
              </a:defRPr>
            </a:pPr>
            <a:r>
              <a:t>•  1 Validate input data → 001, 002, 003, 004, 008, 009</a:t>
            </a:r>
          </a:p>
          <a:p>
            <a:pPr>
              <a:spcAft>
                <a:spcPts val="500"/>
              </a:spcAft>
              <a:defRPr sz="1700">
                <a:solidFill>
                  <a:srgbClr val="F5F5F5"/>
                </a:solidFill>
              </a:defRPr>
            </a:pPr>
            <a:r>
              <a:t>•  2 Heed compiler warnings → 001, 005, 008</a:t>
            </a:r>
          </a:p>
          <a:p>
            <a:pPr>
              <a:spcAft>
                <a:spcPts val="500"/>
              </a:spcAft>
              <a:defRPr sz="1700">
                <a:solidFill>
                  <a:srgbClr val="F5F5F5"/>
                </a:solidFill>
              </a:defRPr>
            </a:pPr>
            <a:r>
              <a:t>•  3 Architect for security → 002, 004, 005, 009</a:t>
            </a:r>
          </a:p>
          <a:p>
            <a:pPr>
              <a:spcAft>
                <a:spcPts val="500"/>
              </a:spcAft>
              <a:defRPr sz="1700">
                <a:solidFill>
                  <a:srgbClr val="F5F5F5"/>
                </a:solidFill>
              </a:defRPr>
            </a:pPr>
            <a:r>
              <a:t>•  4 Keep it simple → 003, 005, 010</a:t>
            </a:r>
          </a:p>
          <a:p>
            <a:pPr>
              <a:spcAft>
                <a:spcPts val="500"/>
              </a:spcAft>
              <a:defRPr sz="1700">
                <a:solidFill>
                  <a:srgbClr val="F5F5F5"/>
                </a:solidFill>
              </a:defRPr>
            </a:pPr>
            <a:r>
              <a:t>•  5 Default deny → 004, 009</a:t>
            </a:r>
          </a:p>
          <a:p>
            <a:pPr>
              <a:spcAft>
                <a:spcPts val="500"/>
              </a:spcAft>
              <a:defRPr sz="1700">
                <a:solidFill>
                  <a:srgbClr val="F5F5F5"/>
                </a:solidFill>
              </a:defRPr>
            </a:pPr>
            <a:r>
              <a:t>•  6 Least privilege → 004, 009</a:t>
            </a:r>
          </a:p>
          <a:p>
            <a:pPr>
              <a:spcAft>
                <a:spcPts val="500"/>
              </a:spcAft>
              <a:defRPr sz="1700">
                <a:solidFill>
                  <a:srgbClr val="F5F5F5"/>
                </a:solidFill>
              </a:defRPr>
            </a:pPr>
            <a:r>
              <a:t>•  7 Sanitize data sent to systems → 004, 007, 009</a:t>
            </a:r>
          </a:p>
          <a:p>
            <a:pPr>
              <a:spcAft>
                <a:spcPts val="500"/>
              </a:spcAft>
              <a:defRPr sz="1700">
                <a:solidFill>
                  <a:srgbClr val="F5F5F5"/>
                </a:solidFill>
              </a:defRPr>
            </a:pPr>
            <a:r>
              <a:t>•  8 Defense in depth → 002, 003, 004, 005, 007</a:t>
            </a:r>
          </a:p>
          <a:p>
            <a:pPr>
              <a:spcAft>
                <a:spcPts val="500"/>
              </a:spcAft>
              <a:defRPr sz="1700">
                <a:solidFill>
                  <a:srgbClr val="F5F5F5"/>
                </a:solidFill>
              </a:defRPr>
            </a:pPr>
            <a:r>
              <a:t>•  9 Effective QA → all ten standards</a:t>
            </a:r>
          </a:p>
          <a:p>
            <a:pPr>
              <a:spcAft>
                <a:spcPts val="500"/>
              </a:spcAft>
              <a:defRPr sz="1700">
                <a:solidFill>
                  <a:srgbClr val="F5F5F5"/>
                </a:solidFill>
              </a:defRPr>
            </a:pPr>
            <a:r>
              <a:t>•  10 Adopt secure coding standard → all ten standards</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Coding Standards | Risk-First Order</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500"/>
              </a:spcAft>
              <a:defRPr sz="1700">
                <a:solidFill>
                  <a:srgbClr val="F5F5F5"/>
                </a:solidFill>
              </a:defRPr>
            </a:pPr>
            <a:r>
              <a:t>•  1. STD-004-CPP — Use Parameterized SQL Queries</a:t>
            </a:r>
          </a:p>
          <a:p>
            <a:pPr>
              <a:spcAft>
                <a:spcPts val="500"/>
              </a:spcAft>
              <a:defRPr sz="1700">
                <a:solidFill>
                  <a:srgbClr val="F5F5F5"/>
                </a:solidFill>
              </a:defRPr>
            </a:pPr>
            <a:r>
              <a:t>•  2. STD-005-CPP — Manage Memory with RAII</a:t>
            </a:r>
          </a:p>
          <a:p>
            <a:pPr>
              <a:spcAft>
                <a:spcPts val="500"/>
              </a:spcAft>
              <a:defRPr sz="1700">
                <a:solidFill>
                  <a:srgbClr val="F5F5F5"/>
                </a:solidFill>
              </a:defRPr>
            </a:pPr>
            <a:r>
              <a:t>•  3. STD-008-CPP — Prevent Integer Overflow</a:t>
            </a:r>
          </a:p>
          <a:p>
            <a:pPr>
              <a:spcAft>
                <a:spcPts val="500"/>
              </a:spcAft>
              <a:defRPr sz="1700">
                <a:solidFill>
                  <a:srgbClr val="F5F5F5"/>
                </a:solidFill>
              </a:defRPr>
            </a:pPr>
            <a:r>
              <a:t>•  4. STD-009-CPP — Validate File Paths Before File Access</a:t>
            </a:r>
          </a:p>
          <a:p>
            <a:pPr>
              <a:spcAft>
                <a:spcPts val="500"/>
              </a:spcAft>
              <a:defRPr sz="1700">
                <a:solidFill>
                  <a:srgbClr val="F5F5F5"/>
                </a:solidFill>
              </a:defRPr>
            </a:pPr>
            <a:r>
              <a:t>•  5. STD-002-CPP — Validate Values Before Use</a:t>
            </a:r>
          </a:p>
          <a:p>
            <a:pPr>
              <a:spcAft>
                <a:spcPts val="500"/>
              </a:spcAft>
              <a:defRPr sz="1700">
                <a:solidFill>
                  <a:srgbClr val="F5F5F5"/>
                </a:solidFill>
              </a:defRPr>
            </a:pPr>
            <a:r>
              <a:t>•  6. STD-003-CPP — Prevent Out-of-Bounds String Access</a:t>
            </a:r>
          </a:p>
          <a:p>
            <a:pPr>
              <a:spcAft>
                <a:spcPts val="500"/>
              </a:spcAft>
              <a:defRPr sz="1700">
                <a:solidFill>
                  <a:srgbClr val="F5F5F5"/>
                </a:solidFill>
              </a:defRPr>
            </a:pPr>
            <a:r>
              <a:t>•  7. STD-007-CPP — Handle Exceptions Without Exposing Sensitive Information</a:t>
            </a:r>
          </a:p>
          <a:p>
            <a:pPr>
              <a:spcAft>
                <a:spcPts val="500"/>
              </a:spcAft>
              <a:defRPr sz="1700">
                <a:solidFill>
                  <a:srgbClr val="F5F5F5"/>
                </a:solidFill>
              </a:defRPr>
            </a:pPr>
            <a:r>
              <a:t>•  8. STD-001-CPP — Use Appropriate and Safe Data Types</a:t>
            </a:r>
          </a:p>
          <a:p>
            <a:pPr>
              <a:spcAft>
                <a:spcPts val="500"/>
              </a:spcAft>
              <a:defRPr sz="1700">
                <a:solidFill>
                  <a:srgbClr val="F5F5F5"/>
                </a:solidFill>
              </a:defRPr>
            </a:pPr>
            <a:r>
              <a:t>•  9. STD-006-CPP — Do Not Use Assertions for Runtime Input Validation</a:t>
            </a:r>
          </a:p>
          <a:p>
            <a:pPr>
              <a:spcAft>
                <a:spcPts val="500"/>
              </a:spcAft>
              <a:defRPr sz="1700">
                <a:solidFill>
                  <a:srgbClr val="F5F5F5"/>
                </a:solidFill>
              </a:defRPr>
            </a:pPr>
            <a:r>
              <a:t>•  10. STD-010-CPP — Release Resources Automatically</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5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Encryption | In Transit, At Rest, In Use</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2100">
                <a:solidFill>
                  <a:srgbClr val="F5F5F5"/>
                </a:solidFill>
              </a:defRPr>
            </a:pPr>
            <a:r>
              <a:t>•  In transit: TLS 1.2+ (prefer TLS 1.3); validate certificates</a:t>
            </a:r>
          </a:p>
          <a:p>
            <a:pPr>
              <a:spcAft>
                <a:spcPts val="1000"/>
              </a:spcAft>
              <a:defRPr sz="2100">
                <a:solidFill>
                  <a:srgbClr val="F5F5F5"/>
                </a:solidFill>
              </a:defRPr>
            </a:pPr>
            <a:r>
              <a:t>•  At rest: AES-256 or approved managed storage encryption</a:t>
            </a:r>
          </a:p>
          <a:p>
            <a:pPr>
              <a:spcAft>
                <a:spcPts val="1000"/>
              </a:spcAft>
              <a:defRPr sz="2100">
                <a:solidFill>
                  <a:srgbClr val="F5F5F5"/>
                </a:solidFill>
              </a:defRPr>
            </a:pPr>
            <a:r>
              <a:t>•  In use: minimize plaintext lifetime; restrict process and memory access</a:t>
            </a:r>
          </a:p>
          <a:p>
            <a:pPr>
              <a:spcAft>
                <a:spcPts val="1000"/>
              </a:spcAft>
              <a:defRPr sz="2100">
                <a:solidFill>
                  <a:srgbClr val="F5F5F5"/>
                </a:solidFill>
              </a:defRPr>
            </a:pPr>
            <a:r>
              <a:t>•  Secrets and keys: vault/KMS, rotation, separate duties, no hard-coded keys</a:t>
            </a:r>
          </a:p>
          <a:p>
            <a:pPr>
              <a:spcAft>
                <a:spcPts val="1000"/>
              </a:spcAft>
              <a:defRPr sz="2100">
                <a:solidFill>
                  <a:srgbClr val="F5F5F5"/>
                </a:solidFill>
              </a:defRPr>
            </a:pPr>
            <a:r>
              <a:t>•  Test certificate errors, permissions, key access, and failure behavior</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6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300" b="1">
                <a:solidFill>
                  <a:srgbClr val="E0F4E3"/>
                </a:solidFill>
              </a:defRPr>
            </a:pPr>
            <a:r>
              <a:t>Triple-A | Authentication, Authorization, Accounting</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2100">
                <a:solidFill>
                  <a:srgbClr val="F5F5F5"/>
                </a:solidFill>
              </a:defRPr>
            </a:pPr>
            <a:r>
              <a:t>•  Authentication: unique identities, MFA for privileged access, secure sessions</a:t>
            </a:r>
          </a:p>
          <a:p>
            <a:pPr>
              <a:spcAft>
                <a:spcPts val="1000"/>
              </a:spcAft>
              <a:defRPr sz="2100">
                <a:solidFill>
                  <a:srgbClr val="F5F5F5"/>
                </a:solidFill>
              </a:defRPr>
            </a:pPr>
            <a:r>
              <a:t>•  Authorization: deny by default; role-based, least-privilege checks</a:t>
            </a:r>
          </a:p>
          <a:p>
            <a:pPr>
              <a:spcAft>
                <a:spcPts val="1000"/>
              </a:spcAft>
              <a:defRPr sz="2100">
                <a:solidFill>
                  <a:srgbClr val="F5F5F5"/>
                </a:solidFill>
              </a:defRPr>
            </a:pPr>
            <a:r>
              <a:t>•  Accounting: timestamped, protected audit events and access reviews</a:t>
            </a:r>
          </a:p>
          <a:p>
            <a:pPr>
              <a:spcAft>
                <a:spcPts val="1000"/>
              </a:spcAft>
              <a:defRPr sz="2100">
                <a:solidFill>
                  <a:srgbClr val="F5F5F5"/>
                </a:solidFill>
              </a:defRPr>
            </a:pPr>
            <a:r>
              <a:t>•  Never log passwords, tokens, keys, or sensitive personal data</a:t>
            </a:r>
          </a:p>
          <a:p>
            <a:pPr>
              <a:spcAft>
                <a:spcPts val="1000"/>
              </a:spcAft>
              <a:defRPr sz="2100">
                <a:solidFill>
                  <a:srgbClr val="F5F5F5"/>
                </a:solidFill>
              </a:defRPr>
            </a:pPr>
            <a:r>
              <a:t>•  Alert on failed sign-ins, privilege changes, and unusual access</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7 /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r>
              <a:rPr sz="2600">
                <a:solidFill>
                  <a:srgbClr val="FFFFFF"/>
                </a:solidFill>
              </a:rPr>
              <a:t>Unit Test 1 | ValidQuantityAccepted</a:t>
            </a:r>
          </a:p>
        </p:txBody>
      </p:sp>
      <p:sp>
        <p:nvSpPr>
          <p:cNvPr id="6" name="TextBox 5"/>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8 / 18</a:t>
            </a:r>
          </a:p>
        </p:txBody>
      </p:sp>
      <p:sp>
        <p:nvSpPr>
          <p:cNvPr id="7" name="TextBox 6"/>
          <p:cNvSpPr txBox="1"/>
          <p:nvPr/>
        </p:nvSpPr>
        <p:spPr>
          <a:xfrm>
            <a:off x="731520" y="1417320"/>
            <a:ext cx="4937760" cy="4389120"/>
          </a:xfrm>
          <a:prstGeom prst="rect">
            <a:avLst/>
          </a:prstGeom>
          <a:noFill/>
        </p:spPr>
        <p:txBody>
          <a:bodyPr wrap="square">
            <a:spAutoFit/>
          </a:bodyPr>
          <a:lstStyle/>
          <a:p>
            <a:pPr>
              <a:spcAft>
                <a:spcPts val="1000"/>
              </a:spcAft>
            </a:pPr>
            <a:r>
              <a:rPr sz="2000" b="1">
                <a:solidFill>
                  <a:srgbClr val="7ED89A"/>
                </a:solidFill>
              </a:rPr>
              <a:t>STANDARD: STD-002-CPP</a:t>
            </a:r>
          </a:p>
          <a:p>
            <a:pPr>
              <a:spcAft>
                <a:spcPts val="1000"/>
              </a:spcAft>
            </a:pPr>
            <a:r>
              <a:rPr sz="1800" b="0">
                <a:solidFill>
                  <a:srgbClr val="F5F5F5"/>
                </a:solidFill>
              </a:rPr>
              <a:t>Validate Values Before Use</a:t>
            </a:r>
          </a:p>
          <a:p>
            <a:pPr>
              <a:spcAft>
                <a:spcPts val="1000"/>
              </a:spcAft>
            </a:pPr>
            <a:endParaRPr sz="1800" b="0">
              <a:solidFill>
                <a:srgbClr val="F5F5F5"/>
              </a:solidFill>
            </a:endParaRPr>
          </a:p>
          <a:p>
            <a:pPr>
              <a:spcAft>
                <a:spcPts val="1000"/>
              </a:spcAft>
            </a:pPr>
            <a:r>
              <a:rPr sz="1800" b="1">
                <a:solidFill>
                  <a:srgbClr val="7ED89A"/>
                </a:solidFill>
              </a:rPr>
              <a:t>Test: Valid input</a:t>
            </a:r>
          </a:p>
          <a:p>
            <a:pPr>
              <a:spcAft>
                <a:spcPts val="1000"/>
              </a:spcAft>
            </a:pPr>
            <a:r>
              <a:rPr sz="1800" b="0">
                <a:solidFill>
                  <a:srgbClr val="F5F5F5"/>
                </a:solidFill>
              </a:rPr>
              <a:t>Input: 50</a:t>
            </a:r>
          </a:p>
          <a:p>
            <a:pPr>
              <a:spcAft>
                <a:spcPts val="1000"/>
              </a:spcAft>
            </a:pPr>
            <a:r>
              <a:rPr sz="1800" b="0">
                <a:solidFill>
                  <a:srgbClr val="F5F5F5"/>
                </a:solidFill>
              </a:rPr>
              <a:t>Expected validation result: true</a:t>
            </a:r>
          </a:p>
          <a:p>
            <a:pPr>
              <a:spcAft>
                <a:spcPts val="1000"/>
              </a:spcAft>
            </a:pPr>
            <a:r>
              <a:rPr sz="2000" b="1">
                <a:solidFill>
                  <a:srgbClr val="7ED89A"/>
                </a:solidFill>
              </a:rPr>
              <a:t>Actual result: PASSED</a:t>
            </a:r>
          </a:p>
          <a:p>
            <a:pPr>
              <a:spcAft>
                <a:spcPts val="1000"/>
              </a:spcAft>
            </a:pPr>
            <a:endParaRPr sz="2000" b="1">
              <a:solidFill>
                <a:srgbClr val="7ED89A"/>
              </a:solidFill>
            </a:endParaRPr>
          </a:p>
          <a:p>
            <a:pPr>
              <a:spcAft>
                <a:spcPts val="1000"/>
              </a:spcAft>
            </a:pPr>
            <a:r>
              <a:rPr sz="1800" b="0">
                <a:solidFill>
                  <a:srgbClr val="F5F5F5"/>
                </a:solidFill>
              </a:rPr>
              <a:t>Framework: Microsoft C++ Unit Test Framework</a:t>
            </a:r>
          </a:p>
          <a:p>
            <a:pPr>
              <a:spcAft>
                <a:spcPts val="1000"/>
              </a:spcAft>
            </a:pPr>
            <a:r>
              <a:rPr sz="1800" b="0">
                <a:solidFill>
                  <a:srgbClr val="F5F5F5"/>
                </a:solidFill>
              </a:rPr>
              <a:t>Evidence: Visual Studio Test Explorer</a:t>
            </a:r>
          </a:p>
          <a:p>
            <a:pPr>
              <a:spcAft>
                <a:spcPts val="1000"/>
              </a:spcAft>
            </a:pPr>
            <a:r>
              <a:rPr sz="1800" b="0">
                <a:solidFill>
                  <a:srgbClr val="F5F5F5"/>
                </a:solidFill>
              </a:rPr>
              <a:t>All 5 tests passed; 0 failed, 0 skipped.</a:t>
            </a:r>
          </a:p>
        </p:txBody>
      </p:sp>
      <p:pic>
        <p:nvPicPr>
          <p:cNvPr id="8" name="Picture 7" descr="image(20261017-172251).png"/>
          <p:cNvPicPr>
            <a:picLocks noChangeAspect="1"/>
          </p:cNvPicPr>
          <p:nvPr/>
        </p:nvPicPr>
        <p:blipFill>
          <a:blip r:embed="rId3"/>
          <a:stretch>
            <a:fillRect/>
          </a:stretch>
        </p:blipFill>
        <p:spPr>
          <a:xfrm>
            <a:off x="5943600" y="1920240"/>
            <a:ext cx="5715000" cy="19777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r>
              <a:rPr sz="2600">
                <a:solidFill>
                  <a:srgbClr val="FFFFFF"/>
                </a:solidFill>
              </a:rPr>
              <a:t>Unit Test 2 | MaximumQuantityAccepted</a:t>
            </a:r>
          </a:p>
        </p:txBody>
      </p:sp>
      <p:sp>
        <p:nvSpPr>
          <p:cNvPr id="6" name="TextBox 5"/>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9 / 18</a:t>
            </a:r>
          </a:p>
        </p:txBody>
      </p:sp>
      <p:sp>
        <p:nvSpPr>
          <p:cNvPr id="7" name="TextBox 6"/>
          <p:cNvSpPr txBox="1"/>
          <p:nvPr/>
        </p:nvSpPr>
        <p:spPr>
          <a:xfrm>
            <a:off x="731520" y="1417320"/>
            <a:ext cx="4937760" cy="4389120"/>
          </a:xfrm>
          <a:prstGeom prst="rect">
            <a:avLst/>
          </a:prstGeom>
          <a:noFill/>
        </p:spPr>
        <p:txBody>
          <a:bodyPr wrap="square">
            <a:spAutoFit/>
          </a:bodyPr>
          <a:lstStyle/>
          <a:p>
            <a:pPr>
              <a:spcAft>
                <a:spcPts val="1000"/>
              </a:spcAft>
            </a:pPr>
            <a:r>
              <a:rPr sz="2000" b="1">
                <a:solidFill>
                  <a:srgbClr val="7ED89A"/>
                </a:solidFill>
              </a:rPr>
              <a:t>STANDARD: STD-002-CPP</a:t>
            </a:r>
          </a:p>
          <a:p>
            <a:pPr>
              <a:spcAft>
                <a:spcPts val="1000"/>
              </a:spcAft>
            </a:pPr>
            <a:r>
              <a:rPr sz="1800" b="0">
                <a:solidFill>
                  <a:srgbClr val="F5F5F5"/>
                </a:solidFill>
              </a:rPr>
              <a:t>Validate Values Before Use</a:t>
            </a:r>
          </a:p>
          <a:p>
            <a:pPr>
              <a:spcAft>
                <a:spcPts val="1000"/>
              </a:spcAft>
            </a:pPr>
            <a:endParaRPr sz="1800" b="0">
              <a:solidFill>
                <a:srgbClr val="F5F5F5"/>
              </a:solidFill>
            </a:endParaRPr>
          </a:p>
          <a:p>
            <a:pPr>
              <a:spcAft>
                <a:spcPts val="1000"/>
              </a:spcAft>
            </a:pPr>
            <a:r>
              <a:rPr sz="1800" b="1">
                <a:solidFill>
                  <a:srgbClr val="7ED89A"/>
                </a:solidFill>
              </a:rPr>
              <a:t>Test: Upper boundary</a:t>
            </a:r>
          </a:p>
          <a:p>
            <a:pPr>
              <a:spcAft>
                <a:spcPts val="1000"/>
              </a:spcAft>
            </a:pPr>
            <a:r>
              <a:rPr sz="1800" b="0">
                <a:solidFill>
                  <a:srgbClr val="F5F5F5"/>
                </a:solidFill>
              </a:rPr>
              <a:t>Input: 100</a:t>
            </a:r>
          </a:p>
          <a:p>
            <a:pPr>
              <a:spcAft>
                <a:spcPts val="1000"/>
              </a:spcAft>
            </a:pPr>
            <a:r>
              <a:rPr sz="1800" b="0">
                <a:solidFill>
                  <a:srgbClr val="F5F5F5"/>
                </a:solidFill>
              </a:rPr>
              <a:t>Expected validation result: true</a:t>
            </a:r>
          </a:p>
          <a:p>
            <a:pPr>
              <a:spcAft>
                <a:spcPts val="1000"/>
              </a:spcAft>
            </a:pPr>
            <a:r>
              <a:rPr sz="2000" b="1">
                <a:solidFill>
                  <a:srgbClr val="7ED89A"/>
                </a:solidFill>
              </a:rPr>
              <a:t>Actual result: PASSED</a:t>
            </a:r>
          </a:p>
          <a:p>
            <a:pPr>
              <a:spcAft>
                <a:spcPts val="1000"/>
              </a:spcAft>
            </a:pPr>
            <a:endParaRPr sz="2000" b="1">
              <a:solidFill>
                <a:srgbClr val="7ED89A"/>
              </a:solidFill>
            </a:endParaRPr>
          </a:p>
          <a:p>
            <a:pPr>
              <a:spcAft>
                <a:spcPts val="1000"/>
              </a:spcAft>
            </a:pPr>
            <a:r>
              <a:rPr sz="1800" b="0">
                <a:solidFill>
                  <a:srgbClr val="F5F5F5"/>
                </a:solidFill>
              </a:rPr>
              <a:t>Framework: Microsoft C++ Unit Test Framework</a:t>
            </a:r>
          </a:p>
          <a:p>
            <a:pPr>
              <a:spcAft>
                <a:spcPts val="1000"/>
              </a:spcAft>
            </a:pPr>
            <a:r>
              <a:rPr sz="1800" b="0">
                <a:solidFill>
                  <a:srgbClr val="F5F5F5"/>
                </a:solidFill>
              </a:rPr>
              <a:t>Evidence: Visual Studio Test Explorer</a:t>
            </a:r>
          </a:p>
          <a:p>
            <a:pPr>
              <a:spcAft>
                <a:spcPts val="1000"/>
              </a:spcAft>
            </a:pPr>
            <a:r>
              <a:rPr sz="1800" b="0">
                <a:solidFill>
                  <a:srgbClr val="F5F5F5"/>
                </a:solidFill>
              </a:rPr>
              <a:t>All 5 tests passed; 0 failed, 0 skipped.</a:t>
            </a:r>
          </a:p>
        </p:txBody>
      </p:sp>
      <p:pic>
        <p:nvPicPr>
          <p:cNvPr id="8" name="Picture 7" descr="image(20261017-172239).png"/>
          <p:cNvPicPr>
            <a:picLocks noChangeAspect="1"/>
          </p:cNvPicPr>
          <p:nvPr/>
        </p:nvPicPr>
        <p:blipFill>
          <a:blip r:embed="rId3"/>
          <a:stretch>
            <a:fillRect/>
          </a:stretch>
        </p:blipFill>
        <p:spPr>
          <a:xfrm>
            <a:off x="5943600" y="1920240"/>
            <a:ext cx="5715000" cy="19219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r>
              <a:rPr sz="2600">
                <a:solidFill>
                  <a:srgbClr val="FFFFFF"/>
                </a:solidFill>
              </a:rPr>
              <a:t>Unit Test 3 | ZeroQuantityRejected</a:t>
            </a:r>
          </a:p>
        </p:txBody>
      </p:sp>
      <p:sp>
        <p:nvSpPr>
          <p:cNvPr id="6" name="TextBox 5"/>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10 / 18</a:t>
            </a:r>
          </a:p>
        </p:txBody>
      </p:sp>
      <p:sp>
        <p:nvSpPr>
          <p:cNvPr id="7" name="TextBox 6"/>
          <p:cNvSpPr txBox="1"/>
          <p:nvPr/>
        </p:nvSpPr>
        <p:spPr>
          <a:xfrm>
            <a:off x="731520" y="1417320"/>
            <a:ext cx="4937760" cy="4389120"/>
          </a:xfrm>
          <a:prstGeom prst="rect">
            <a:avLst/>
          </a:prstGeom>
          <a:noFill/>
        </p:spPr>
        <p:txBody>
          <a:bodyPr wrap="square">
            <a:spAutoFit/>
          </a:bodyPr>
          <a:lstStyle/>
          <a:p>
            <a:pPr>
              <a:spcAft>
                <a:spcPts val="1000"/>
              </a:spcAft>
            </a:pPr>
            <a:r>
              <a:rPr sz="2000" b="1">
                <a:solidFill>
                  <a:srgbClr val="7ED89A"/>
                </a:solidFill>
              </a:rPr>
              <a:t>STANDARD: STD-002-CPP</a:t>
            </a:r>
          </a:p>
          <a:p>
            <a:pPr>
              <a:spcAft>
                <a:spcPts val="1000"/>
              </a:spcAft>
            </a:pPr>
            <a:r>
              <a:rPr sz="1800" b="0">
                <a:solidFill>
                  <a:srgbClr val="F5F5F5"/>
                </a:solidFill>
              </a:rPr>
              <a:t>Validate Values Before Use</a:t>
            </a:r>
          </a:p>
          <a:p>
            <a:pPr>
              <a:spcAft>
                <a:spcPts val="1000"/>
              </a:spcAft>
            </a:pPr>
            <a:endParaRPr sz="1800" b="0">
              <a:solidFill>
                <a:srgbClr val="F5F5F5"/>
              </a:solidFill>
            </a:endParaRPr>
          </a:p>
          <a:p>
            <a:pPr>
              <a:spcAft>
                <a:spcPts val="1000"/>
              </a:spcAft>
            </a:pPr>
            <a:r>
              <a:rPr sz="1800" b="1">
                <a:solidFill>
                  <a:srgbClr val="7ED89A"/>
                </a:solidFill>
              </a:rPr>
              <a:t>Test: Zero rejected</a:t>
            </a:r>
          </a:p>
          <a:p>
            <a:pPr>
              <a:spcAft>
                <a:spcPts val="1000"/>
              </a:spcAft>
            </a:pPr>
            <a:r>
              <a:rPr sz="1800" b="0">
                <a:solidFill>
                  <a:srgbClr val="F5F5F5"/>
                </a:solidFill>
              </a:rPr>
              <a:t>Input: 0</a:t>
            </a:r>
          </a:p>
          <a:p>
            <a:pPr>
              <a:spcAft>
                <a:spcPts val="1000"/>
              </a:spcAft>
            </a:pPr>
            <a:r>
              <a:rPr sz="1800" b="0">
                <a:solidFill>
                  <a:srgbClr val="F5F5F5"/>
                </a:solidFill>
              </a:rPr>
              <a:t>Expected validation result: false</a:t>
            </a:r>
          </a:p>
          <a:p>
            <a:pPr>
              <a:spcAft>
                <a:spcPts val="1000"/>
              </a:spcAft>
            </a:pPr>
            <a:r>
              <a:rPr sz="2000" b="1">
                <a:solidFill>
                  <a:srgbClr val="7ED89A"/>
                </a:solidFill>
              </a:rPr>
              <a:t>Actual result: PASSED</a:t>
            </a:r>
          </a:p>
          <a:p>
            <a:pPr>
              <a:spcAft>
                <a:spcPts val="1000"/>
              </a:spcAft>
            </a:pPr>
            <a:endParaRPr sz="2000" b="1">
              <a:solidFill>
                <a:srgbClr val="7ED89A"/>
              </a:solidFill>
            </a:endParaRPr>
          </a:p>
          <a:p>
            <a:pPr>
              <a:spcAft>
                <a:spcPts val="1000"/>
              </a:spcAft>
            </a:pPr>
            <a:r>
              <a:rPr sz="1800" b="0">
                <a:solidFill>
                  <a:srgbClr val="F5F5F5"/>
                </a:solidFill>
              </a:rPr>
              <a:t>Framework: Microsoft C++ Unit Test Framework</a:t>
            </a:r>
          </a:p>
          <a:p>
            <a:pPr>
              <a:spcAft>
                <a:spcPts val="1000"/>
              </a:spcAft>
            </a:pPr>
            <a:r>
              <a:rPr sz="1800" b="0">
                <a:solidFill>
                  <a:srgbClr val="F5F5F5"/>
                </a:solidFill>
              </a:rPr>
              <a:t>Evidence: Visual Studio Test Explorer</a:t>
            </a:r>
          </a:p>
          <a:p>
            <a:pPr>
              <a:spcAft>
                <a:spcPts val="1000"/>
              </a:spcAft>
            </a:pPr>
            <a:r>
              <a:rPr sz="1800" b="0">
                <a:solidFill>
                  <a:srgbClr val="F5F5F5"/>
                </a:solidFill>
              </a:rPr>
              <a:t>All 5 tests passed; 0 failed, 0 skipped.</a:t>
            </a:r>
          </a:p>
        </p:txBody>
      </p:sp>
      <p:pic>
        <p:nvPicPr>
          <p:cNvPr id="8" name="Picture 7" descr="image(20261017-172257).png"/>
          <p:cNvPicPr>
            <a:picLocks noChangeAspect="1"/>
          </p:cNvPicPr>
          <p:nvPr/>
        </p:nvPicPr>
        <p:blipFill>
          <a:blip r:embed="rId3"/>
          <a:stretch>
            <a:fillRect/>
          </a:stretch>
        </p:blipFill>
        <p:spPr>
          <a:xfrm>
            <a:off x="5943600" y="1920240"/>
            <a:ext cx="5715000" cy="20192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r>
              <a:rPr sz="2600">
                <a:solidFill>
                  <a:srgbClr val="FFFFFF"/>
                </a:solidFill>
              </a:rPr>
              <a:t>Unit Test 4 | NegativeQuantityRejected</a:t>
            </a:r>
          </a:p>
        </p:txBody>
      </p:sp>
      <p:sp>
        <p:nvSpPr>
          <p:cNvPr id="6" name="TextBox 5"/>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11 / 18</a:t>
            </a:r>
          </a:p>
        </p:txBody>
      </p:sp>
      <p:sp>
        <p:nvSpPr>
          <p:cNvPr id="7" name="TextBox 6"/>
          <p:cNvSpPr txBox="1"/>
          <p:nvPr/>
        </p:nvSpPr>
        <p:spPr>
          <a:xfrm>
            <a:off x="731520" y="1417320"/>
            <a:ext cx="4937760" cy="4389120"/>
          </a:xfrm>
          <a:prstGeom prst="rect">
            <a:avLst/>
          </a:prstGeom>
          <a:noFill/>
        </p:spPr>
        <p:txBody>
          <a:bodyPr wrap="square">
            <a:spAutoFit/>
          </a:bodyPr>
          <a:lstStyle/>
          <a:p>
            <a:pPr>
              <a:spcAft>
                <a:spcPts val="1000"/>
              </a:spcAft>
            </a:pPr>
            <a:r>
              <a:rPr sz="2000" b="1">
                <a:solidFill>
                  <a:srgbClr val="7ED89A"/>
                </a:solidFill>
              </a:rPr>
              <a:t>STANDARD: STD-002-CPP</a:t>
            </a:r>
          </a:p>
          <a:p>
            <a:pPr>
              <a:spcAft>
                <a:spcPts val="1000"/>
              </a:spcAft>
            </a:pPr>
            <a:r>
              <a:rPr sz="1800" b="0">
                <a:solidFill>
                  <a:srgbClr val="F5F5F5"/>
                </a:solidFill>
              </a:rPr>
              <a:t>Validate Values Before Use</a:t>
            </a:r>
          </a:p>
          <a:p>
            <a:pPr>
              <a:spcAft>
                <a:spcPts val="1000"/>
              </a:spcAft>
            </a:pPr>
            <a:endParaRPr sz="1800" b="0">
              <a:solidFill>
                <a:srgbClr val="F5F5F5"/>
              </a:solidFill>
            </a:endParaRPr>
          </a:p>
          <a:p>
            <a:pPr>
              <a:spcAft>
                <a:spcPts val="1000"/>
              </a:spcAft>
            </a:pPr>
            <a:r>
              <a:rPr sz="1800" b="1">
                <a:solidFill>
                  <a:srgbClr val="7ED89A"/>
                </a:solidFill>
              </a:rPr>
              <a:t>Test: Negative input rejected</a:t>
            </a:r>
          </a:p>
          <a:p>
            <a:pPr>
              <a:spcAft>
                <a:spcPts val="1000"/>
              </a:spcAft>
            </a:pPr>
            <a:r>
              <a:rPr sz="1800" b="0">
                <a:solidFill>
                  <a:srgbClr val="F5F5F5"/>
                </a:solidFill>
              </a:rPr>
              <a:t>Input: -5</a:t>
            </a:r>
          </a:p>
          <a:p>
            <a:pPr>
              <a:spcAft>
                <a:spcPts val="1000"/>
              </a:spcAft>
            </a:pPr>
            <a:r>
              <a:rPr sz="1800" b="0">
                <a:solidFill>
                  <a:srgbClr val="F5F5F5"/>
                </a:solidFill>
              </a:rPr>
              <a:t>Expected validation result: false</a:t>
            </a:r>
          </a:p>
          <a:p>
            <a:pPr>
              <a:spcAft>
                <a:spcPts val="1000"/>
              </a:spcAft>
            </a:pPr>
            <a:r>
              <a:rPr sz="2000" b="1">
                <a:solidFill>
                  <a:srgbClr val="7ED89A"/>
                </a:solidFill>
              </a:rPr>
              <a:t>Actual result: PASSED</a:t>
            </a:r>
          </a:p>
          <a:p>
            <a:pPr>
              <a:spcAft>
                <a:spcPts val="1000"/>
              </a:spcAft>
            </a:pPr>
            <a:endParaRPr sz="2000" b="1">
              <a:solidFill>
                <a:srgbClr val="7ED89A"/>
              </a:solidFill>
            </a:endParaRPr>
          </a:p>
          <a:p>
            <a:pPr>
              <a:spcAft>
                <a:spcPts val="1000"/>
              </a:spcAft>
            </a:pPr>
            <a:r>
              <a:rPr sz="1800" b="0">
                <a:solidFill>
                  <a:srgbClr val="F5F5F5"/>
                </a:solidFill>
              </a:rPr>
              <a:t>Framework: Microsoft C++ Unit Test Framework</a:t>
            </a:r>
          </a:p>
          <a:p>
            <a:pPr>
              <a:spcAft>
                <a:spcPts val="1000"/>
              </a:spcAft>
            </a:pPr>
            <a:r>
              <a:rPr sz="1800" b="0">
                <a:solidFill>
                  <a:srgbClr val="F5F5F5"/>
                </a:solidFill>
              </a:rPr>
              <a:t>Evidence: Visual Studio Test Explorer</a:t>
            </a:r>
          </a:p>
          <a:p>
            <a:pPr>
              <a:spcAft>
                <a:spcPts val="1000"/>
              </a:spcAft>
            </a:pPr>
            <a:r>
              <a:rPr sz="1800" b="0">
                <a:solidFill>
                  <a:srgbClr val="F5F5F5"/>
                </a:solidFill>
              </a:rPr>
              <a:t>All 5 tests passed; 0 failed, 0 skipped.</a:t>
            </a:r>
          </a:p>
        </p:txBody>
      </p:sp>
      <p:pic>
        <p:nvPicPr>
          <p:cNvPr id="8" name="Picture 7" descr="image(20261017-172246).png"/>
          <p:cNvPicPr>
            <a:picLocks noChangeAspect="1"/>
          </p:cNvPicPr>
          <p:nvPr/>
        </p:nvPicPr>
        <p:blipFill>
          <a:blip r:embed="rId3"/>
          <a:stretch>
            <a:fillRect/>
          </a:stretch>
        </p:blipFill>
        <p:spPr>
          <a:xfrm>
            <a:off x="5943600" y="1920240"/>
            <a:ext cx="5715000" cy="19631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r>
              <a:rPr sz="2600">
                <a:solidFill>
                  <a:srgbClr val="FFFFFF"/>
                </a:solidFill>
              </a:rPr>
              <a:t>Unit Test 5 | ExcessiveQuantityRejected</a:t>
            </a:r>
          </a:p>
        </p:txBody>
      </p:sp>
      <p:sp>
        <p:nvSpPr>
          <p:cNvPr id="6" name="TextBox 5"/>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12 / 18</a:t>
            </a:r>
          </a:p>
        </p:txBody>
      </p:sp>
      <p:sp>
        <p:nvSpPr>
          <p:cNvPr id="7" name="TextBox 6"/>
          <p:cNvSpPr txBox="1"/>
          <p:nvPr/>
        </p:nvSpPr>
        <p:spPr>
          <a:xfrm>
            <a:off x="731520" y="1417320"/>
            <a:ext cx="4937760" cy="4389120"/>
          </a:xfrm>
          <a:prstGeom prst="rect">
            <a:avLst/>
          </a:prstGeom>
          <a:noFill/>
        </p:spPr>
        <p:txBody>
          <a:bodyPr wrap="square">
            <a:spAutoFit/>
          </a:bodyPr>
          <a:lstStyle/>
          <a:p>
            <a:pPr>
              <a:spcAft>
                <a:spcPts val="1000"/>
              </a:spcAft>
            </a:pPr>
            <a:r>
              <a:rPr sz="2000" b="1">
                <a:solidFill>
                  <a:srgbClr val="7ED89A"/>
                </a:solidFill>
              </a:rPr>
              <a:t>STANDARD: STD-002-CPP</a:t>
            </a:r>
          </a:p>
          <a:p>
            <a:pPr>
              <a:spcAft>
                <a:spcPts val="1000"/>
              </a:spcAft>
            </a:pPr>
            <a:r>
              <a:rPr sz="1800" b="0">
                <a:solidFill>
                  <a:srgbClr val="F5F5F5"/>
                </a:solidFill>
              </a:rPr>
              <a:t>Validate Values Before Use</a:t>
            </a:r>
          </a:p>
          <a:p>
            <a:pPr>
              <a:spcAft>
                <a:spcPts val="1000"/>
              </a:spcAft>
            </a:pPr>
            <a:endParaRPr sz="1800" b="0">
              <a:solidFill>
                <a:srgbClr val="F5F5F5"/>
              </a:solidFill>
            </a:endParaRPr>
          </a:p>
          <a:p>
            <a:pPr>
              <a:spcAft>
                <a:spcPts val="1000"/>
              </a:spcAft>
            </a:pPr>
            <a:r>
              <a:rPr sz="1800" b="1">
                <a:solidFill>
                  <a:srgbClr val="7ED89A"/>
                </a:solidFill>
              </a:rPr>
              <a:t>Test: Above limit rejected</a:t>
            </a:r>
          </a:p>
          <a:p>
            <a:pPr>
              <a:spcAft>
                <a:spcPts val="1000"/>
              </a:spcAft>
            </a:pPr>
            <a:r>
              <a:rPr sz="1800" b="0">
                <a:solidFill>
                  <a:srgbClr val="F5F5F5"/>
                </a:solidFill>
              </a:rPr>
              <a:t>Input: 101</a:t>
            </a:r>
          </a:p>
          <a:p>
            <a:pPr>
              <a:spcAft>
                <a:spcPts val="1000"/>
              </a:spcAft>
            </a:pPr>
            <a:r>
              <a:rPr sz="1800" b="0">
                <a:solidFill>
                  <a:srgbClr val="F5F5F5"/>
                </a:solidFill>
              </a:rPr>
              <a:t>Expected validation result: false</a:t>
            </a:r>
          </a:p>
          <a:p>
            <a:pPr>
              <a:spcAft>
                <a:spcPts val="1000"/>
              </a:spcAft>
            </a:pPr>
            <a:r>
              <a:rPr sz="2000" b="1">
                <a:solidFill>
                  <a:srgbClr val="7ED89A"/>
                </a:solidFill>
              </a:rPr>
              <a:t>Actual result: PASSED</a:t>
            </a:r>
          </a:p>
          <a:p>
            <a:pPr>
              <a:spcAft>
                <a:spcPts val="1000"/>
              </a:spcAft>
            </a:pPr>
            <a:endParaRPr sz="2000" b="1">
              <a:solidFill>
                <a:srgbClr val="7ED89A"/>
              </a:solidFill>
            </a:endParaRPr>
          </a:p>
          <a:p>
            <a:pPr>
              <a:spcAft>
                <a:spcPts val="1000"/>
              </a:spcAft>
            </a:pPr>
            <a:r>
              <a:rPr sz="1800" b="0">
                <a:solidFill>
                  <a:srgbClr val="F5F5F5"/>
                </a:solidFill>
              </a:rPr>
              <a:t>Framework: Microsoft C++ Unit Test Framework</a:t>
            </a:r>
          </a:p>
          <a:p>
            <a:pPr>
              <a:spcAft>
                <a:spcPts val="1000"/>
              </a:spcAft>
            </a:pPr>
            <a:r>
              <a:rPr sz="1800" b="0">
                <a:solidFill>
                  <a:srgbClr val="F5F5F5"/>
                </a:solidFill>
              </a:rPr>
              <a:t>Evidence: Visual Studio Test Explorer</a:t>
            </a:r>
          </a:p>
          <a:p>
            <a:pPr>
              <a:spcAft>
                <a:spcPts val="1000"/>
              </a:spcAft>
            </a:pPr>
            <a:r>
              <a:rPr sz="1800" b="0">
                <a:solidFill>
                  <a:srgbClr val="F5F5F5"/>
                </a:solidFill>
              </a:rPr>
              <a:t>All 5 tests passed; 0 failed, 0 skipped.</a:t>
            </a:r>
          </a:p>
        </p:txBody>
      </p:sp>
      <p:pic>
        <p:nvPicPr>
          <p:cNvPr id="8" name="Picture 7" descr="image(20261017-172232).png"/>
          <p:cNvPicPr>
            <a:picLocks noChangeAspect="1"/>
          </p:cNvPicPr>
          <p:nvPr/>
        </p:nvPicPr>
        <p:blipFill>
          <a:blip r:embed="rId3"/>
          <a:stretch>
            <a:fillRect/>
          </a:stretch>
        </p:blipFill>
        <p:spPr>
          <a:xfrm>
            <a:off x="5943600" y="1920240"/>
            <a:ext cx="5715000" cy="20928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Automation Summary | DevSecOps Lifecycle</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2100">
                <a:solidFill>
                  <a:srgbClr val="F5F5F5"/>
                </a:solidFill>
              </a:defRPr>
            </a:pPr>
            <a:r>
              <a:t>•  PLAN: threat model and security requirements</a:t>
            </a:r>
          </a:p>
          <a:p>
            <a:pPr>
              <a:spcAft>
                <a:spcPts val="1000"/>
              </a:spcAft>
              <a:defRPr sz="2100">
                <a:solidFill>
                  <a:srgbClr val="F5F5F5"/>
                </a:solidFill>
              </a:defRPr>
            </a:pPr>
            <a:r>
              <a:t>•  CODE: peer review, pre-commit linting and secrets scanning</a:t>
            </a:r>
          </a:p>
          <a:p>
            <a:pPr>
              <a:spcAft>
                <a:spcPts val="1000"/>
              </a:spcAft>
              <a:defRPr sz="2100">
                <a:solidFill>
                  <a:srgbClr val="F5F5F5"/>
                </a:solidFill>
              </a:defRPr>
            </a:pPr>
            <a:r>
              <a:t>•  BUILD: compiler warnings /WX; clang-tidy; Cppcheck; dependency scans</a:t>
            </a:r>
          </a:p>
          <a:p>
            <a:pPr>
              <a:spcAft>
                <a:spcPts val="1000"/>
              </a:spcAft>
              <a:defRPr sz="2100">
                <a:solidFill>
                  <a:srgbClr val="F5F5F5"/>
                </a:solidFill>
              </a:defRPr>
            </a:pPr>
            <a:r>
              <a:t>•  TEST: C++ unit tests, sanitizers, fuzzing, integration tests</a:t>
            </a:r>
          </a:p>
          <a:p>
            <a:pPr>
              <a:spcAft>
                <a:spcPts val="1000"/>
              </a:spcAft>
              <a:defRPr sz="2100">
                <a:solidFill>
                  <a:srgbClr val="F5F5F5"/>
                </a:solidFill>
              </a:defRPr>
            </a:pPr>
            <a:r>
              <a:t>•  DEPLOY + MONITOR: approved releases, audit logs, alerts, patch feedback</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13 / 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External Tools | Where They Fit</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1900">
                <a:solidFill>
                  <a:srgbClr val="F5F5F5"/>
                </a:solidFill>
              </a:defRPr>
            </a:pPr>
            <a:r>
              <a:t>•  MSVC /W4 /WX: compile and flag unsafe conversions</a:t>
            </a:r>
          </a:p>
          <a:p>
            <a:pPr>
              <a:spcAft>
                <a:spcPts val="1000"/>
              </a:spcAft>
              <a:defRPr sz="1900">
                <a:solidFill>
                  <a:srgbClr val="F5F5F5"/>
                </a:solidFill>
              </a:defRPr>
            </a:pPr>
            <a:r>
              <a:t>•  Clang-Tidy: static checks for C++ defects and risky constructs</a:t>
            </a:r>
          </a:p>
          <a:p>
            <a:pPr>
              <a:spcAft>
                <a:spcPts val="1000"/>
              </a:spcAft>
              <a:defRPr sz="1900">
                <a:solidFill>
                  <a:srgbClr val="F5F5F5"/>
                </a:solidFill>
              </a:defRPr>
            </a:pPr>
            <a:r>
              <a:t>•  Cppcheck: supplemental static analysis for C/C++</a:t>
            </a:r>
          </a:p>
          <a:p>
            <a:pPr>
              <a:spcAft>
                <a:spcPts val="1000"/>
              </a:spcAft>
              <a:defRPr sz="1900">
                <a:solidFill>
                  <a:srgbClr val="F5F5F5"/>
                </a:solidFill>
              </a:defRPr>
            </a:pPr>
            <a:r>
              <a:t>•  Visual Studio Test Explorer: execute regression/unit tests</a:t>
            </a:r>
          </a:p>
          <a:p>
            <a:pPr>
              <a:spcAft>
                <a:spcPts val="1000"/>
              </a:spcAft>
              <a:defRPr sz="1900">
                <a:solidFill>
                  <a:srgbClr val="F5F5F5"/>
                </a:solidFill>
              </a:defRPr>
            </a:pPr>
            <a:r>
              <a:t>•  AddressSanitizer + fuzzing: dynamic memory and edge-case testing</a:t>
            </a:r>
          </a:p>
          <a:p>
            <a:pPr>
              <a:spcAft>
                <a:spcPts val="1000"/>
              </a:spcAft>
              <a:defRPr sz="1900">
                <a:solidFill>
                  <a:srgbClr val="F5F5F5"/>
                </a:solidFill>
              </a:defRPr>
            </a:pPr>
            <a:r>
              <a:t>•  SAST/DAST findings: triage, assign, fix, retest, track exceptions</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14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Risks and Benefits | Act Now or Wait</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1900">
                <a:solidFill>
                  <a:srgbClr val="F5F5F5"/>
                </a:solidFill>
              </a:defRPr>
            </a:pPr>
            <a:r>
              <a:t>•  SQL injection and unsafe paths: fix now; prevent data exposure</a:t>
            </a:r>
          </a:p>
          <a:p>
            <a:pPr>
              <a:spcAft>
                <a:spcPts val="1000"/>
              </a:spcAft>
              <a:defRPr sz="1900">
                <a:solidFill>
                  <a:srgbClr val="F5F5F5"/>
                </a:solidFill>
              </a:defRPr>
            </a:pPr>
            <a:r>
              <a:t>•  Integer overflow and memory errors: fix now; prevent crashes/exploitation</a:t>
            </a:r>
          </a:p>
          <a:p>
            <a:pPr>
              <a:spcAft>
                <a:spcPts val="1000"/>
              </a:spcAft>
              <a:defRPr sz="1900">
                <a:solidFill>
                  <a:srgbClr val="F5F5F5"/>
                </a:solidFill>
              </a:defRPr>
            </a:pPr>
            <a:r>
              <a:t>•  Input/string validation: fix before release; reduce malformed-data risk</a:t>
            </a:r>
          </a:p>
          <a:p>
            <a:pPr>
              <a:spcAft>
                <a:spcPts val="1000"/>
              </a:spcAft>
              <a:defRPr sz="1900">
                <a:solidFill>
                  <a:srgbClr val="F5F5F5"/>
                </a:solidFill>
              </a:defRPr>
            </a:pPr>
            <a:r>
              <a:t>•  Delay: longer exposure, larger remediation cost, potential incident</a:t>
            </a:r>
          </a:p>
          <a:p>
            <a:pPr>
              <a:spcAft>
                <a:spcPts val="1000"/>
              </a:spcAft>
              <a:defRPr sz="1900">
                <a:solidFill>
                  <a:srgbClr val="F5F5F5"/>
                </a:solidFill>
              </a:defRPr>
            </a:pPr>
            <a:r>
              <a:t>•  Tradeoffs: engineering effort, false positives, regression risk</a:t>
            </a:r>
          </a:p>
          <a:p>
            <a:pPr>
              <a:spcAft>
                <a:spcPts val="1000"/>
              </a:spcAft>
              <a:defRPr sz="1900">
                <a:solidFill>
                  <a:srgbClr val="F5F5F5"/>
                </a:solidFill>
              </a:defRPr>
            </a:pPr>
            <a:r>
              <a:t>•  Mitigation: staged rollout, code review, regression tests, rollback plan</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15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Recommendations | Close Current Gaps</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1900">
                <a:solidFill>
                  <a:srgbClr val="F5F5F5"/>
                </a:solidFill>
              </a:defRPr>
            </a:pPr>
            <a:r>
              <a:t>•  Enforce mandatory CI checks for all 10 standards</a:t>
            </a:r>
          </a:p>
          <a:p>
            <a:pPr>
              <a:spcAft>
                <a:spcPts val="1000"/>
              </a:spcAft>
              <a:defRPr sz="1900">
                <a:solidFill>
                  <a:srgbClr val="F5F5F5"/>
                </a:solidFill>
              </a:defRPr>
            </a:pPr>
            <a:r>
              <a:t>•  Add explicit security owners and remediation deadlines</a:t>
            </a:r>
          </a:p>
          <a:p>
            <a:pPr>
              <a:spcAft>
                <a:spcPts val="1000"/>
              </a:spcAft>
              <a:defRPr sz="1900">
                <a:solidFill>
                  <a:srgbClr val="F5F5F5"/>
                </a:solidFill>
              </a:defRPr>
            </a:pPr>
            <a:r>
              <a:t>•  Expand tests: boundaries, malformed input, fuzzing, sanitizers</a:t>
            </a:r>
          </a:p>
          <a:p>
            <a:pPr>
              <a:spcAft>
                <a:spcPts val="1000"/>
              </a:spcAft>
              <a:defRPr sz="1900">
                <a:solidFill>
                  <a:srgbClr val="F5F5F5"/>
                </a:solidFill>
              </a:defRPr>
            </a:pPr>
            <a:r>
              <a:t>•  Review privilege, logging, keys, and dependency inventory</a:t>
            </a:r>
          </a:p>
          <a:p>
            <a:pPr>
              <a:spcAft>
                <a:spcPts val="1000"/>
              </a:spcAft>
              <a:defRPr sz="1900">
                <a:solidFill>
                  <a:srgbClr val="F5F5F5"/>
                </a:solidFill>
              </a:defRPr>
            </a:pPr>
            <a:r>
              <a:t>•  Track exceptions with justification, expiry, and approval</a:t>
            </a:r>
          </a:p>
          <a:p>
            <a:pPr>
              <a:spcAft>
                <a:spcPts val="1000"/>
              </a:spcAft>
              <a:defRPr sz="1900">
                <a:solidFill>
                  <a:srgbClr val="F5F5F5"/>
                </a:solidFill>
              </a:defRPr>
            </a:pPr>
            <a:r>
              <a:t>•  Measure: open critical findings, time-to-fix, test coverage</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16 /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Conclusion | Sustainable Secure Development</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2100">
                <a:solidFill>
                  <a:srgbClr val="F5F5F5"/>
                </a:solidFill>
              </a:defRPr>
            </a:pPr>
            <a:r>
              <a:t>•  Adopt SEI CERT C++ guidance and OWASP ASVS where applicable</a:t>
            </a:r>
          </a:p>
          <a:p>
            <a:pPr>
              <a:spcAft>
                <a:spcPts val="1000"/>
              </a:spcAft>
              <a:defRPr sz="2100">
                <a:solidFill>
                  <a:srgbClr val="F5F5F5"/>
                </a:solidFill>
              </a:defRPr>
            </a:pPr>
            <a:r>
              <a:t>•  Align the program with NIST SSDF (SP 800-218)</a:t>
            </a:r>
          </a:p>
          <a:p>
            <a:pPr>
              <a:spcAft>
                <a:spcPts val="1000"/>
              </a:spcAft>
              <a:defRPr sz="2100">
                <a:solidFill>
                  <a:srgbClr val="F5F5F5"/>
                </a:solidFill>
              </a:defRPr>
            </a:pPr>
            <a:r>
              <a:t>•  Threat-model changes before implementation</a:t>
            </a:r>
          </a:p>
          <a:p>
            <a:pPr>
              <a:spcAft>
                <a:spcPts val="1000"/>
              </a:spcAft>
              <a:defRPr sz="2100">
                <a:solidFill>
                  <a:srgbClr val="F5F5F5"/>
                </a:solidFill>
              </a:defRPr>
            </a:pPr>
            <a:r>
              <a:t>•  Require evidence-based release gates and periodic policy review</a:t>
            </a:r>
          </a:p>
          <a:p>
            <a:pPr>
              <a:spcAft>
                <a:spcPts val="1000"/>
              </a:spcAft>
              <a:defRPr sz="2100">
                <a:solidFill>
                  <a:srgbClr val="F5F5F5"/>
                </a:solidFill>
              </a:defRPr>
            </a:pPr>
            <a:r>
              <a:t>•  Build a feedback loop: detect → fix → retest → improve</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17 / 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41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52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10896"/>
            <a:ext cx="11186160" cy="777240"/>
          </a:xfrm>
          <a:prstGeom prst="rect">
            <a:avLst/>
          </a:prstGeom>
          <a:noFill/>
        </p:spPr>
        <p:txBody>
          <a:bodyPr wrap="none">
            <a:spAutoFit/>
          </a:bodyPr>
          <a:lstStyle/>
          <a:p>
            <a:pPr>
              <a:defRPr sz="2700" b="1">
                <a:solidFill>
                  <a:srgbClr val="E0F4E3"/>
                </a:solidFill>
              </a:defRPr>
            </a:pPr>
            <a:r>
              <a:t>References | APA Style</a:t>
            </a:r>
          </a:p>
        </p:txBody>
      </p:sp>
      <p:sp>
        <p:nvSpPr>
          <p:cNvPr id="4" name="TextBox 3"/>
          <p:cNvSpPr txBox="1"/>
          <p:nvPr/>
        </p:nvSpPr>
        <p:spPr>
          <a:xfrm>
            <a:off x="685800" y="1234440"/>
            <a:ext cx="10820400" cy="4434840"/>
          </a:xfrm>
          <a:prstGeom prst="rect">
            <a:avLst/>
          </a:prstGeom>
          <a:noFill/>
        </p:spPr>
        <p:txBody>
          <a:bodyPr wrap="square">
            <a:spAutoFit/>
          </a:bodyPr>
          <a:lstStyle/>
          <a:p>
            <a:pPr>
              <a:spcAft>
                <a:spcPts val="1000"/>
              </a:spcAft>
              <a:defRPr sz="1300">
                <a:solidFill>
                  <a:srgbClr val="F5F5F5"/>
                </a:solidFill>
              </a:defRPr>
            </a:pPr>
            <a:r>
              <a:t>Carnegie Mellon University, Software Engineering Institute. (n.d.). SEI CERT C++ coding standard. https://wiki.sei.cmu.edu/confluence/display/cplusplus</a:t>
            </a:r>
          </a:p>
          <a:p>
            <a:pPr>
              <a:spcAft>
                <a:spcPts val="1000"/>
              </a:spcAft>
              <a:defRPr sz="1300">
                <a:solidFill>
                  <a:srgbClr val="F5F5F5"/>
                </a:solidFill>
              </a:defRPr>
            </a:pPr>
            <a:r>
              <a:t>National Institute of Standards and Technology. (2022). Secure software development framework (SSDF) version 1.1 (SP 800-218). https://doi.org/10.6028/NIST.SP.800-218</a:t>
            </a:r>
          </a:p>
          <a:p>
            <a:pPr>
              <a:spcAft>
                <a:spcPts val="1000"/>
              </a:spcAft>
              <a:defRPr sz="1300">
                <a:solidFill>
                  <a:srgbClr val="F5F5F5"/>
                </a:solidFill>
              </a:defRPr>
            </a:pPr>
            <a:r>
              <a:t>OWASP Foundation. (n.d.). Application security verification standard. https://owasp.org/www-project-application-security-verification-standard/</a:t>
            </a:r>
          </a:p>
          <a:p>
            <a:pPr>
              <a:spcAft>
                <a:spcPts val="1000"/>
              </a:spcAft>
              <a:defRPr sz="1300">
                <a:solidFill>
                  <a:srgbClr val="F5F5F5"/>
                </a:solidFill>
              </a:defRPr>
            </a:pPr>
            <a:r>
              <a:t>Microsoft. (n.d.). Unit test your code (C++). https://learn.microsoft.com/en-us/visualstudio/test/writing-unit-tests-for-c-cpp</a:t>
            </a:r>
          </a:p>
          <a:p>
            <a:pPr>
              <a:spcAft>
                <a:spcPts val="1000"/>
              </a:spcAft>
              <a:defRPr sz="1300">
                <a:solidFill>
                  <a:srgbClr val="F5F5F5"/>
                </a:solidFill>
              </a:defRPr>
            </a:pPr>
            <a:r>
              <a:t>Green Pace. (2026). Green Pace secure development policy [Unpublished course project].</a:t>
            </a:r>
          </a:p>
        </p:txBody>
      </p:sp>
      <p:sp>
        <p:nvSpPr>
          <p:cNvPr id="5" name="TextBox 4"/>
          <p:cNvSpPr txBox="1"/>
          <p:nvPr/>
        </p:nvSpPr>
        <p:spPr>
          <a:xfrm>
            <a:off x="548640" y="6428232"/>
            <a:ext cx="11094720" cy="274320"/>
          </a:xfrm>
          <a:prstGeom prst="rect">
            <a:avLst/>
          </a:prstGeom>
          <a:noFill/>
        </p:spPr>
        <p:txBody>
          <a:bodyPr wrap="none">
            <a:spAutoFit/>
          </a:bodyPr>
          <a:lstStyle/>
          <a:p>
            <a:pPr>
              <a:defRPr sz="1000">
                <a:solidFill>
                  <a:srgbClr val="7EB889"/>
                </a:solidFill>
              </a:defRPr>
            </a:pPr>
            <a:r>
              <a:t>GREEN PACE  •  CS 405 PROJECT TWO                                            18 / 18</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3105</Words>
  <Application>Microsoft Office PowerPoint</Application>
  <PresentationFormat>Widescreen</PresentationFormat>
  <Paragraphs>184</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Century Gothic</vt:lpstr>
      <vt:lpstr>Arial</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Conrad, Michael</cp:lastModifiedBy>
  <cp:revision>5</cp:revision>
  <dcterms:created xsi:type="dcterms:W3CDTF">2020-08-19T17:59:24Z</dcterms:created>
  <dcterms:modified xsi:type="dcterms:W3CDTF">2026-10-17T17:26:36Z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